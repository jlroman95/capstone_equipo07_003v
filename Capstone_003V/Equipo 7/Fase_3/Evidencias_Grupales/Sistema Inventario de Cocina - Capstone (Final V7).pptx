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Montserrat SemiBold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Open Sans SemiBold"/>
      <p:regular r:id="rId30"/>
      <p:bold r:id="rId31"/>
      <p:italic r:id="rId32"/>
      <p:boldItalic r:id="rId33"/>
    </p:embeddedFont>
    <p:embeddedFont>
      <p:font typeface="Fira Code"/>
      <p:regular r:id="rId34"/>
      <p:bold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jKkhbz/mc+d1zB8YsAOGiFoT2m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740774-0B11-42D5-86A7-E2D33685C709}">
  <a:tblStyle styleId="{8F740774-0B11-42D5-86A7-E2D33685C70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font" Target="fonts/Montserrat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regular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SemiBold-bold.fntdata"/><Relationship Id="rId30" Type="http://schemas.openxmlformats.org/officeDocument/2006/relationships/font" Target="fonts/OpenSa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OpenSansSemiBold-italic.fntdata"/><Relationship Id="rId13" Type="http://schemas.openxmlformats.org/officeDocument/2006/relationships/slide" Target="slides/slide7.xml"/><Relationship Id="rId35" Type="http://schemas.openxmlformats.org/officeDocument/2006/relationships/font" Target="fonts/FiraCode-bold.fntdata"/><Relationship Id="rId12" Type="http://schemas.openxmlformats.org/officeDocument/2006/relationships/slide" Target="slides/slide6.xml"/><Relationship Id="rId34" Type="http://schemas.openxmlformats.org/officeDocument/2006/relationships/font" Target="fonts/FiraCode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-bold.fntdata"/><Relationship Id="rId14" Type="http://schemas.openxmlformats.org/officeDocument/2006/relationships/slide" Target="slides/slide8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1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Open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4" name="Google Shape;3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8.png"/><Relationship Id="rId5" Type="http://schemas.openxmlformats.org/officeDocument/2006/relationships/image" Target="../media/image13.png"/><Relationship Id="rId6" Type="http://schemas.openxmlformats.org/officeDocument/2006/relationships/image" Target="../media/image21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11" Type="http://schemas.openxmlformats.org/officeDocument/2006/relationships/image" Target="../media/image16.png"/><Relationship Id="rId10" Type="http://schemas.openxmlformats.org/officeDocument/2006/relationships/image" Target="../media/image18.png"/><Relationship Id="rId12" Type="http://schemas.openxmlformats.org/officeDocument/2006/relationships/image" Target="../media/image30.png"/><Relationship Id="rId9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39.png"/><Relationship Id="rId22" Type="http://schemas.openxmlformats.org/officeDocument/2006/relationships/image" Target="../media/image42.png"/><Relationship Id="rId21" Type="http://schemas.openxmlformats.org/officeDocument/2006/relationships/image" Target="../media/image41.png"/><Relationship Id="rId24" Type="http://schemas.openxmlformats.org/officeDocument/2006/relationships/image" Target="../media/image53.png"/><Relationship Id="rId23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9" Type="http://schemas.openxmlformats.org/officeDocument/2006/relationships/image" Target="../media/image36.png"/><Relationship Id="rId26" Type="http://schemas.openxmlformats.org/officeDocument/2006/relationships/image" Target="../media/image50.png"/><Relationship Id="rId25" Type="http://schemas.openxmlformats.org/officeDocument/2006/relationships/image" Target="../media/image48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Relationship Id="rId7" Type="http://schemas.openxmlformats.org/officeDocument/2006/relationships/image" Target="../media/image29.png"/><Relationship Id="rId8" Type="http://schemas.openxmlformats.org/officeDocument/2006/relationships/image" Target="../media/image34.png"/><Relationship Id="rId11" Type="http://schemas.openxmlformats.org/officeDocument/2006/relationships/image" Target="../media/image47.png"/><Relationship Id="rId10" Type="http://schemas.openxmlformats.org/officeDocument/2006/relationships/image" Target="../media/image33.png"/><Relationship Id="rId13" Type="http://schemas.openxmlformats.org/officeDocument/2006/relationships/image" Target="../media/image45.png"/><Relationship Id="rId12" Type="http://schemas.openxmlformats.org/officeDocument/2006/relationships/image" Target="../media/image31.png"/><Relationship Id="rId15" Type="http://schemas.openxmlformats.org/officeDocument/2006/relationships/image" Target="../media/image43.png"/><Relationship Id="rId14" Type="http://schemas.openxmlformats.org/officeDocument/2006/relationships/image" Target="../media/image37.png"/><Relationship Id="rId17" Type="http://schemas.openxmlformats.org/officeDocument/2006/relationships/image" Target="../media/image38.png"/><Relationship Id="rId16" Type="http://schemas.openxmlformats.org/officeDocument/2006/relationships/image" Target="../media/image35.png"/><Relationship Id="rId19" Type="http://schemas.openxmlformats.org/officeDocument/2006/relationships/image" Target="../media/image40.png"/><Relationship Id="rId18" Type="http://schemas.openxmlformats.org/officeDocument/2006/relationships/image" Target="../media/image4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9" Type="http://schemas.openxmlformats.org/officeDocument/2006/relationships/image" Target="../media/image55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Relationship Id="rId7" Type="http://schemas.openxmlformats.org/officeDocument/2006/relationships/image" Target="../media/image51.png"/><Relationship Id="rId8" Type="http://schemas.openxmlformats.org/officeDocument/2006/relationships/image" Target="../media/image57.png"/><Relationship Id="rId11" Type="http://schemas.openxmlformats.org/officeDocument/2006/relationships/image" Target="../media/image59.png"/><Relationship Id="rId10" Type="http://schemas.openxmlformats.org/officeDocument/2006/relationships/image" Target="../media/image56.png"/><Relationship Id="rId13" Type="http://schemas.openxmlformats.org/officeDocument/2006/relationships/image" Target="../media/image65.png"/><Relationship Id="rId12" Type="http://schemas.openxmlformats.org/officeDocument/2006/relationships/image" Target="../media/image114.png"/><Relationship Id="rId15" Type="http://schemas.openxmlformats.org/officeDocument/2006/relationships/image" Target="../media/image58.png"/><Relationship Id="rId14" Type="http://schemas.openxmlformats.org/officeDocument/2006/relationships/image" Target="../media/image63.png"/><Relationship Id="rId16" Type="http://schemas.openxmlformats.org/officeDocument/2006/relationships/image" Target="../media/image6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0.png"/><Relationship Id="rId9" Type="http://schemas.openxmlformats.org/officeDocument/2006/relationships/image" Target="../media/image69.png"/><Relationship Id="rId5" Type="http://schemas.openxmlformats.org/officeDocument/2006/relationships/image" Target="../media/image64.png"/><Relationship Id="rId6" Type="http://schemas.openxmlformats.org/officeDocument/2006/relationships/image" Target="../media/image68.png"/><Relationship Id="rId7" Type="http://schemas.openxmlformats.org/officeDocument/2006/relationships/image" Target="../media/image70.png"/><Relationship Id="rId8" Type="http://schemas.openxmlformats.org/officeDocument/2006/relationships/image" Target="../media/image67.png"/><Relationship Id="rId11" Type="http://schemas.openxmlformats.org/officeDocument/2006/relationships/image" Target="../media/image71.png"/><Relationship Id="rId10" Type="http://schemas.openxmlformats.org/officeDocument/2006/relationships/image" Target="../media/image74.png"/><Relationship Id="rId13" Type="http://schemas.openxmlformats.org/officeDocument/2006/relationships/image" Target="../media/image73.png"/><Relationship Id="rId12" Type="http://schemas.openxmlformats.org/officeDocument/2006/relationships/image" Target="../media/image7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2.png"/><Relationship Id="rId4" Type="http://schemas.openxmlformats.org/officeDocument/2006/relationships/image" Target="../media/image75.png"/><Relationship Id="rId9" Type="http://schemas.openxmlformats.org/officeDocument/2006/relationships/image" Target="../media/image81.png"/><Relationship Id="rId5" Type="http://schemas.openxmlformats.org/officeDocument/2006/relationships/image" Target="../media/image76.png"/><Relationship Id="rId6" Type="http://schemas.openxmlformats.org/officeDocument/2006/relationships/image" Target="../media/image82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11" Type="http://schemas.openxmlformats.org/officeDocument/2006/relationships/image" Target="../media/image83.png"/><Relationship Id="rId10" Type="http://schemas.openxmlformats.org/officeDocument/2006/relationships/image" Target="../media/image80.png"/><Relationship Id="rId13" Type="http://schemas.openxmlformats.org/officeDocument/2006/relationships/image" Target="../media/image85.png"/><Relationship Id="rId12" Type="http://schemas.openxmlformats.org/officeDocument/2006/relationships/image" Target="../media/image8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14.png"/><Relationship Id="rId9" Type="http://schemas.openxmlformats.org/officeDocument/2006/relationships/image" Target="../media/image89.png"/><Relationship Id="rId5" Type="http://schemas.openxmlformats.org/officeDocument/2006/relationships/image" Target="../media/image91.png"/><Relationship Id="rId6" Type="http://schemas.openxmlformats.org/officeDocument/2006/relationships/image" Target="../media/image20.png"/><Relationship Id="rId7" Type="http://schemas.openxmlformats.org/officeDocument/2006/relationships/image" Target="../media/image92.png"/><Relationship Id="rId8" Type="http://schemas.openxmlformats.org/officeDocument/2006/relationships/image" Target="../media/image96.png"/><Relationship Id="rId11" Type="http://schemas.openxmlformats.org/officeDocument/2006/relationships/image" Target="../media/image22.png"/><Relationship Id="rId10" Type="http://schemas.openxmlformats.org/officeDocument/2006/relationships/image" Target="../media/image8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3.png"/><Relationship Id="rId5" Type="http://schemas.openxmlformats.org/officeDocument/2006/relationships/image" Target="../media/image9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9.png"/><Relationship Id="rId9" Type="http://schemas.openxmlformats.org/officeDocument/2006/relationships/image" Target="../media/image98.png"/><Relationship Id="rId5" Type="http://schemas.openxmlformats.org/officeDocument/2006/relationships/image" Target="../media/image90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12.png"/><Relationship Id="rId9" Type="http://schemas.openxmlformats.org/officeDocument/2006/relationships/image" Target="../media/image113.png"/><Relationship Id="rId5" Type="http://schemas.openxmlformats.org/officeDocument/2006/relationships/image" Target="../media/image105.png"/><Relationship Id="rId6" Type="http://schemas.openxmlformats.org/officeDocument/2006/relationships/image" Target="../media/image109.png"/><Relationship Id="rId7" Type="http://schemas.openxmlformats.org/officeDocument/2006/relationships/image" Target="../media/image106.png"/><Relationship Id="rId8" Type="http://schemas.openxmlformats.org/officeDocument/2006/relationships/image" Target="../media/image1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87217"/>
            <a:ext cx="11049000" cy="17086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571500" y="176718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DB913"/>
                </a:solidFill>
                <a:latin typeface="Open Sans"/>
                <a:ea typeface="Open Sans"/>
                <a:cs typeface="Open Sans"/>
                <a:sym typeface="Open Sans"/>
              </a:rPr>
              <a:t>PROYECTO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95275" y="2212925"/>
            <a:ext cx="116016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2B5C"/>
                </a:solidFill>
                <a:latin typeface="Montserrat"/>
                <a:ea typeface="Montserrat"/>
                <a:cs typeface="Montserrat"/>
                <a:sym typeface="Montserrat"/>
              </a:rPr>
              <a:t>Sistema APT</a:t>
            </a:r>
            <a:br>
              <a:rPr b="1" i="0" lang="en-US" sz="4200" u="none" cap="none" strike="noStrike">
                <a:solidFill>
                  <a:srgbClr val="002B5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-US" sz="4200" u="none" cap="none" strike="noStrike">
                <a:solidFill>
                  <a:srgbClr val="002B5C"/>
                </a:solidFill>
                <a:latin typeface="Montserrat"/>
                <a:ea typeface="Montserrat"/>
                <a:cs typeface="Montserrat"/>
                <a:sym typeface="Montserrat"/>
              </a:rPr>
              <a:t>Control de cocina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71500" y="391194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Escuela de Informática y Telecomunicaciones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71500" y="5258692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Profesor: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Luis Manuel Yagi Figueroa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71500" y="5704433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Alumnos: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José Luis Román - Jorge Luis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71500" y="6150173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Puerto Montt, Chile - 2025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4" y="437754"/>
            <a:ext cx="2674675" cy="6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9300"/>
            <a:ext cx="5381625" cy="3724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019300"/>
            <a:ext cx="5381625" cy="372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746998" y="3028950"/>
            <a:ext cx="50306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Jorge Luis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866775" y="3429000"/>
            <a:ext cx="4791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Product Owner &amp; Frontend Dev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414373" y="3028950"/>
            <a:ext cx="50306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José Luis Román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534150" y="3429000"/>
            <a:ext cx="4791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Scrum Master &amp; Backend Dev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4" name="Google Shape;10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24187" y="23907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1038225" y="385473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104900" y="3855690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Desarrollo de interfaces en React.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038225" y="424332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104900" y="4244280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Diseño de experiencia de usuario (UX/UI).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038225" y="463191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1104900" y="4632870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Gestión del backlog y requerimientos.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038225" y="502050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04900" y="5021460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Validaciones visuales y de usabilidad.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3" name="Google Shape;11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91562" y="23907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6705600" y="385473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6772275" y="3855690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Arquitectura Cloud con Firebase.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705600" y="424332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6772275" y="4244280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Gestión de Base de Datos NoSQL (Firestore).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6705600" y="463191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6772275" y="4632870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Seguridad y Reglas de negocio.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6705600" y="502050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6772275" y="5021460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Facilitador de metodología Scrum.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2B5C"/>
                </a:solidFill>
                <a:latin typeface="Montserrat"/>
                <a:ea typeface="Montserrat"/>
                <a:cs typeface="Montserrat"/>
                <a:sym typeface="Montserrat"/>
              </a:rPr>
              <a:t>Integrantes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 txBox="1"/>
          <p:nvPr/>
        </p:nvSpPr>
        <p:spPr>
          <a:xfrm>
            <a:off x="571500" y="917376"/>
            <a:ext cx="5200650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2B5C"/>
                </a:solidFill>
                <a:latin typeface="Montserrat"/>
                <a:ea typeface="Montserrat"/>
                <a:cs typeface="Montserrat"/>
                <a:sym typeface="Montserrat"/>
              </a:rPr>
              <a:t>Descripción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571500" y="2003226"/>
            <a:ext cx="4953000" cy="28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571500" y="2317551"/>
            <a:ext cx="5200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Problema /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571500" y="2717601"/>
            <a:ext cx="49530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Las cocinas industriales, especialmente en plantas pesqueras, sufren de gestión manual ineficiente, falta de trazabilidad en insumos, errores humanos en registros sanitarios y dificultad para cumplir auditorías normativas.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571500" y="4271962"/>
            <a:ext cx="5200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Solución Propuesta (APT)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571500" y="4672012"/>
            <a:ext cx="49530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Plataforma web integral en la nube (Firebase) que centraliza la gestión operacional. Incluye control de inventario FIFO, checklists sanitarios, registro de producción, alertas en tiempo real y reportes exportables.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5" name="Google Shape;13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6601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91012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2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100" y="434425"/>
            <a:ext cx="5286375" cy="6415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1725" y="434425"/>
            <a:ext cx="5286375" cy="641568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 txBox="1"/>
          <p:nvPr/>
        </p:nvSpPr>
        <p:spPr>
          <a:xfrm>
            <a:off x="904875" y="1762125"/>
            <a:ext cx="49006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904875" y="2162175"/>
            <a:ext cx="46672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Diseñar e implementar un sistema informático integral para gestionar digitalmente los procesos operativos de una cocina industrial (inventarios, producción, temperaturas y checklists), garantizando trazabilidad, consistencia y eficiencia.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667500" y="1762125"/>
            <a:ext cx="49006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Objetivos Específicos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7239000" y="2143125"/>
            <a:ext cx="40959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Gestión Modular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Desarrollar módulos escalables para inventario, checklists y producción.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7239000" y="3508923"/>
            <a:ext cx="40959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Integridad y Seguridad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Asegurar datos mediante reglas de seguridad en Firestore.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7239000" y="4722310"/>
            <a:ext cx="40959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Trazabilidad FIFO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Reflejar fielmente la rotación real de insumos mediante colecciones de lotes.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7309625" y="5935687"/>
            <a:ext cx="40959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Alertas Inteligentes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Notificar riesgos como stock bajo o vencimientos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1" name="Google Shape;15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5625" y="217646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05625" y="354225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05625" y="473897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29438" y="5935674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2B5C"/>
                </a:solidFill>
                <a:latin typeface="Montserrat"/>
                <a:ea typeface="Montserrat"/>
                <a:cs typeface="Montserrat"/>
                <a:sym typeface="Montserrat"/>
              </a:rPr>
              <a:t>Objetivos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571500" y="1285875"/>
            <a:ext cx="55506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2C5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Alcances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6334125" y="1285875"/>
            <a:ext cx="55506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F444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Limitaciones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4" name="Google Shape;16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4475" y="130492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"/>
          <p:cNvSpPr txBox="1"/>
          <p:nvPr/>
        </p:nvSpPr>
        <p:spPr>
          <a:xfrm>
            <a:off x="1143000" y="1666875"/>
            <a:ext cx="47148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Backend Serverless: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Lógica implementada con servicios de Firebase.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1143000" y="2484090"/>
            <a:ext cx="47148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Frontend Interactivo: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Interfaz React conectada a Firestore.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1143000" y="3301305"/>
            <a:ext cx="47148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Base de Datos: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Firestore (NoSQL) escalable y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1143000" y="4118520"/>
            <a:ext cx="47148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Reportabilidad: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Generación de informes operativos en PDF y Excel.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9" name="Google Shape;16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48575" y="13049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 txBox="1"/>
          <p:nvPr/>
        </p:nvSpPr>
        <p:spPr>
          <a:xfrm>
            <a:off x="6905625" y="1666875"/>
            <a:ext cx="4714875" cy="901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Dependencia Online: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No se implementó modo offline para garantizar estabilidad y cumplimiento de plazos.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6905625" y="2758380"/>
            <a:ext cx="47148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Cambio de Tecnología: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Migración forzada a NoSQL por tiempos acotados.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6905625" y="3575595"/>
            <a:ext cx="4714875" cy="901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Ingreso Manual: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Dependencia de captura manual para temperaturas (Sin IoT).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3" name="Google Shape;17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17002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51742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333464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415185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72250" y="170021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72250" y="279171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72250" y="3608933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2B5C"/>
                </a:solidFill>
                <a:latin typeface="Montserrat"/>
                <a:ea typeface="Montserrat"/>
                <a:cs typeface="Montserrat"/>
                <a:sym typeface="Montserrat"/>
              </a:rPr>
              <a:t>Alcances y Limitaciones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 txBox="1"/>
          <p:nvPr/>
        </p:nvSpPr>
        <p:spPr>
          <a:xfrm>
            <a:off x="571500" y="571500"/>
            <a:ext cx="52006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2B5C"/>
                </a:solidFill>
                <a:latin typeface="Montserrat"/>
                <a:ea typeface="Montserrat"/>
                <a:cs typeface="Montserrat"/>
                <a:sym typeface="Montserrat"/>
              </a:rPr>
              <a:t>Metodología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71500" y="1162050"/>
            <a:ext cx="4953000" cy="28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571500" y="1647825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El proyecto se desarrolló bajo el marco de trabajo ágil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Scrum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, permitiendo entregas incrementales y adaptación continua.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1143000" y="2813595"/>
            <a:ext cx="4381500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Iterativo: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Ciclos de trabajo (Sprints) de 3 semanas.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1143000" y="3630810"/>
            <a:ext cx="4381500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Roles Definidos: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Product Owner, Scrum Master y Equipo de Desarrollo.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1143000" y="4448026"/>
            <a:ext cx="4381500" cy="901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Artefactos: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Backlog priorizado, Historias de Usuario y revisiones periódicas.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1143000" y="5539531"/>
            <a:ext cx="4381500" cy="901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Transparencia: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Uso de Trello para seguimiento de tareas y validaciones.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4" name="Google Shape;19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284693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366414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448136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5572869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410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3" name="Google Shape;203;p7"/>
          <p:cNvGraphicFramePr/>
          <p:nvPr/>
        </p:nvGraphicFramePr>
        <p:xfrm>
          <a:off x="0" y="8168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{8F740774-0B11-42D5-86A7-E2D33685C709}</a:tableStyleId>
              </a:tblPr>
              <a:tblGrid>
                <a:gridCol w="1743075"/>
                <a:gridCol w="5229225"/>
                <a:gridCol w="5200650"/>
              </a:tblGrid>
              <a:tr h="6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Sprint / Sem.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Objetivo Principal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Entregables Clave (HU)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5C"/>
                    </a:solidFill>
                  </a:tcPr>
                </a:tc>
              </a:tr>
              <a:tr h="69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Sprint 1 Semanas 1 - 2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Configuración de Entorno y BD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Setup inicial y modelado de datos.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HU01Configuración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HU03Modelado BD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Sprint 2 Semanas 3 - 4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Autenticación y Frontend Base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Seguridad y estructura visual.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HU02Login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HU04Usuarios FE-2.3Ruteo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9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Sprint 3 Semanas 5 - 6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MVP: Inventario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Gestión de movimientos y stock.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HU05Movimientos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HU06Vista Stock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Sprint 4 Semanas 7 - 8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Datos Maestros (CRUD)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Gestión de productos y proveedores.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HU10Productos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HU14Proveedores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9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Sprint 5 Semanas 9 - 10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Módulo Calidad: Checklists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Creación y gestión de plantillas.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HU07Plantillas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HU08Creación Checklist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Sprint 6 Semanas 11 - 12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Historial y Auditoría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Trazabilidad de operaciones.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HU09Historial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HU13Auditoría Logs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9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Sprint 7 Semanas 13 - 15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Reportes y BI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Visualización de datos y exportación.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HU11Reporte Stock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HU12Reporte Calidad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Sprint 8 Semanas 16 - 18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Cierre de Proyecto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Integración, pruebas finales y entrega.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HU15Entrega Final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Pruebas Integrales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7"/>
          <p:cNvSpPr/>
          <p:nvPr/>
        </p:nvSpPr>
        <p:spPr>
          <a:xfrm>
            <a:off x="571500" y="2187453"/>
            <a:ext cx="165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2228850" y="2063353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200900" y="2063353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71500" y="2859858"/>
            <a:ext cx="165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2228850" y="2735758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7200900" y="2735758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71500" y="3532264"/>
            <a:ext cx="165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2228850" y="3408164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7200900" y="3408164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71500" y="4204669"/>
            <a:ext cx="165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2228850" y="4080569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7200900" y="4080569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71500" y="4877075"/>
            <a:ext cx="165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2228850" y="4752975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7200900" y="4752975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571500" y="5549480"/>
            <a:ext cx="165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2228850" y="5425380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7200900" y="5425380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71500" y="6221885"/>
            <a:ext cx="165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2228850" y="6097785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7200900" y="6097785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571500" y="6894291"/>
            <a:ext cx="165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228850" y="6629391"/>
            <a:ext cx="497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200900" y="6574041"/>
            <a:ext cx="4419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8" name="Google Shape;22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8600" y="1611430"/>
            <a:ext cx="571500" cy="20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96150" y="1548110"/>
            <a:ext cx="3238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6150" y="1822400"/>
            <a:ext cx="3238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8600" y="2235649"/>
            <a:ext cx="571500" cy="20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96150" y="2220515"/>
            <a:ext cx="3238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96150" y="2494805"/>
            <a:ext cx="3238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68600" y="3035966"/>
            <a:ext cx="571500" cy="20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96150" y="2892921"/>
            <a:ext cx="3238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96150" y="3167211"/>
            <a:ext cx="3238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068600" y="3770435"/>
            <a:ext cx="571500" cy="20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296150" y="3565326"/>
            <a:ext cx="3238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296150" y="3839616"/>
            <a:ext cx="3238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068600" y="4442839"/>
            <a:ext cx="571500" cy="20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296150" y="4237732"/>
            <a:ext cx="3238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296150" y="4512022"/>
            <a:ext cx="3238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068600" y="5053183"/>
            <a:ext cx="571500" cy="20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296150" y="4910137"/>
            <a:ext cx="3238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296150" y="5184427"/>
            <a:ext cx="3238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068600" y="5725588"/>
            <a:ext cx="571500" cy="20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296150" y="5582542"/>
            <a:ext cx="3238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296150" y="5856833"/>
            <a:ext cx="3238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2068600" y="6460044"/>
            <a:ext cx="571500" cy="20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296150" y="6254948"/>
            <a:ext cx="3238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 txBox="1"/>
          <p:nvPr/>
        </p:nvSpPr>
        <p:spPr>
          <a:xfrm>
            <a:off x="571500" y="73669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2B5C"/>
                </a:solidFill>
                <a:latin typeface="Montserrat"/>
                <a:ea typeface="Montserrat"/>
                <a:cs typeface="Montserrat"/>
                <a:sym typeface="Montserrat"/>
              </a:rPr>
              <a:t>Cronograma Planificado (Original)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571500" y="664219"/>
            <a:ext cx="11049000" cy="28575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014561"/>
            <a:ext cx="5286375" cy="5733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20341"/>
            <a:ext cx="5286375" cy="1611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22352"/>
            <a:ext cx="5286375" cy="1367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380583"/>
            <a:ext cx="5286375" cy="1367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15162" y="1313705"/>
            <a:ext cx="3924300" cy="1330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15162" y="3216026"/>
            <a:ext cx="3924300" cy="1330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15162" y="5118348"/>
            <a:ext cx="3924300" cy="133082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 txBox="1"/>
          <p:nvPr/>
        </p:nvSpPr>
        <p:spPr>
          <a:xfrm>
            <a:off x="571500" y="1186011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Arquitectura moderna en la nube para garantizar alta disponibilidad.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8967787" y="2835026"/>
            <a:ext cx="19050" cy="1905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8967787" y="4737348"/>
            <a:ext cx="19050" cy="1905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904875" y="2315616"/>
            <a:ext cx="489061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Frontend (React)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904875" y="2696616"/>
            <a:ext cx="46577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SPA interactiva que consume servicios. Gestiona estado local y UI.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904875" y="4117627"/>
            <a:ext cx="489061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Backend (Firebase)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904875" y="4498627"/>
            <a:ext cx="46577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Auth para identidad y Security Rules para protección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904875" y="5675858"/>
            <a:ext cx="489061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BD (Firestore)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904875" y="6056858"/>
            <a:ext cx="46577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Base documental NoSQL. Sincronización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4" name="Google Shape;274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58250" y="144705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8"/>
          <p:cNvSpPr txBox="1"/>
          <p:nvPr/>
        </p:nvSpPr>
        <p:spPr>
          <a:xfrm>
            <a:off x="7057072" y="1916310"/>
            <a:ext cx="384048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7148512" y="2328416"/>
            <a:ext cx="365760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React + Vite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7" name="Google Shape;277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886825" y="3349376"/>
            <a:ext cx="1809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8"/>
          <p:cNvSpPr txBox="1"/>
          <p:nvPr/>
        </p:nvSpPr>
        <p:spPr>
          <a:xfrm>
            <a:off x="7057072" y="3818632"/>
            <a:ext cx="384048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Firebase Platform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7148512" y="4230737"/>
            <a:ext cx="365760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Authentication | Hosting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0" name="Google Shape;280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891587" y="5251698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 txBox="1"/>
          <p:nvPr/>
        </p:nvSpPr>
        <p:spPr>
          <a:xfrm>
            <a:off x="7057072" y="5720953"/>
            <a:ext cx="384048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Cloud Firestore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7148512" y="6133058"/>
            <a:ext cx="365760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NoSQL 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3" name="Google Shape;283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04875" y="233466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04875" y="413667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04875" y="5694908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8"/>
          <p:cNvSpPr txBox="1"/>
          <p:nvPr/>
        </p:nvSpPr>
        <p:spPr>
          <a:xfrm>
            <a:off x="571500" y="109686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2B5C"/>
                </a:solidFill>
                <a:latin typeface="Montserrat"/>
                <a:ea typeface="Montserrat"/>
                <a:cs typeface="Montserrat"/>
                <a:sym typeface="Montserrat"/>
              </a:rPr>
              <a:t>Arquitectura del Software (Serverless)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71500" y="700236"/>
            <a:ext cx="11049000" cy="28575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5875"/>
            <a:ext cx="2676525" cy="2538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2325" y="1285875"/>
            <a:ext cx="2676525" cy="2538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3150" y="1285875"/>
            <a:ext cx="2676525" cy="2538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3975" y="1285875"/>
            <a:ext cx="2676525" cy="2538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38587"/>
            <a:ext cx="2676525" cy="2538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2325" y="3938587"/>
            <a:ext cx="2676525" cy="2538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3150" y="3938587"/>
            <a:ext cx="2676525" cy="2538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3975" y="3938587"/>
            <a:ext cx="2676525" cy="253841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9"/>
          <p:cNvSpPr txBox="1"/>
          <p:nvPr/>
        </p:nvSpPr>
        <p:spPr>
          <a:xfrm>
            <a:off x="676275" y="1409700"/>
            <a:ext cx="259032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676275" y="1628775"/>
            <a:ext cx="2466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676275" y="1695450"/>
            <a:ext cx="24669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{ id, nombre, email, rol, creado_en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3467100" y="1409700"/>
            <a:ext cx="259032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proveedores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3467100" y="1628775"/>
            <a:ext cx="2466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3467100" y="1695450"/>
            <a:ext cx="24669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{ id, nombre, contacto, telefono, email, direccion, creado_en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6257925" y="1409700"/>
            <a:ext cx="259032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productos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6257925" y="1628775"/>
            <a:ext cx="2466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 txBox="1"/>
          <p:nvPr/>
        </p:nvSpPr>
        <p:spPr>
          <a:xfrm>
            <a:off x="6257925" y="1695450"/>
            <a:ext cx="2466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{ id, codigo_producto, nombre, categoria, unid_medida, stock_min, proveedor_id, precio_unit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9048750" y="1409700"/>
            <a:ext cx="259032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inventario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9048750" y="1628775"/>
            <a:ext cx="2466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9048750" y="1695450"/>
            <a:ext cx="2466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{ id, codigo_prod, producto, lote, cant_actual, unid_medida, f_ingreso, f_venc, estado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676275" y="4062412"/>
            <a:ext cx="259032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produccion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676275" y="4281487"/>
            <a:ext cx="2466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676275" y="4348162"/>
            <a:ext cx="24669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{ id, fecha, turno, responsable, plato, cant, </a:t>
            </a:r>
            <a:r>
              <a:rPr b="1" i="0" lang="en-US" sz="750" u="none" cap="none" strike="noStrike">
                <a:solidFill>
                  <a:srgbClr val="D97706"/>
                </a:solidFill>
                <a:latin typeface="Fira Code"/>
                <a:ea typeface="Fira Code"/>
                <a:cs typeface="Fira Code"/>
                <a:sym typeface="Fira Code"/>
              </a:rPr>
              <a:t>ingredientes</a:t>
            </a:r>
            <a:r>
              <a:rPr b="0" i="0" lang="en-US" sz="750" u="none" cap="none" strike="noStrike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: [</a:t>
            </a:r>
            <a:r>
              <a:rPr b="0" i="0" lang="en-US" sz="75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r>
              <a:rPr b="0" i="0" lang="en-US" sz="750" u="none" cap="none" strike="noStrike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], </a:t>
            </a:r>
            <a:r>
              <a:rPr b="1" i="0" lang="en-US" sz="750" u="none" cap="none" strike="noStrike">
                <a:solidFill>
                  <a:srgbClr val="D97706"/>
                </a:solidFill>
                <a:latin typeface="Fira Code"/>
                <a:ea typeface="Fira Code"/>
                <a:cs typeface="Fira Code"/>
                <a:sym typeface="Fira Code"/>
              </a:rPr>
              <a:t>mermas</a:t>
            </a:r>
            <a:r>
              <a:rPr b="0" i="0" lang="en-US" sz="750" u="none" cap="none" strike="noStrike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: [</a:t>
            </a:r>
            <a:r>
              <a:rPr b="0" i="0" lang="en-US" sz="750" u="none" cap="none" strike="noStrik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r>
              <a:rPr b="0" i="0" lang="en-US" sz="750" u="none" cap="none" strike="noStrike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]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467100" y="4062412"/>
            <a:ext cx="259032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recetas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3467100" y="4281487"/>
            <a:ext cx="2466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3467100" y="4348162"/>
            <a:ext cx="24669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{ id, nombre, descripcion, </a:t>
            </a:r>
            <a:r>
              <a:rPr b="1" i="0" lang="en-US" sz="750" u="none" cap="none" strike="noStrike">
                <a:solidFill>
                  <a:srgbClr val="D97706"/>
                </a:solidFill>
                <a:latin typeface="Fira Code"/>
                <a:ea typeface="Fira Code"/>
                <a:cs typeface="Fira Code"/>
                <a:sym typeface="Fira Code"/>
              </a:rPr>
              <a:t>ingredientes</a:t>
            </a:r>
            <a:r>
              <a:rPr b="0" i="0" lang="en-US" sz="750" u="none" cap="none" strike="noStrike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: [{ cod_prod, cantidad }]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 txBox="1"/>
          <p:nvPr/>
        </p:nvSpPr>
        <p:spPr>
          <a:xfrm>
            <a:off x="6257925" y="4062412"/>
            <a:ext cx="259032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checklists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6257925" y="4281487"/>
            <a:ext cx="2466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 txBox="1"/>
          <p:nvPr/>
        </p:nvSpPr>
        <p:spPr>
          <a:xfrm>
            <a:off x="6257925" y="4348162"/>
            <a:ext cx="2466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{ id, fecha, turno, responsable, estado, </a:t>
            </a:r>
            <a:r>
              <a:rPr b="1" i="0" lang="en-US" sz="750" u="none" cap="none" strike="noStrike">
                <a:solidFill>
                  <a:srgbClr val="D97706"/>
                </a:solidFill>
                <a:latin typeface="Fira Code"/>
                <a:ea typeface="Fira Code"/>
                <a:cs typeface="Fira Code"/>
                <a:sym typeface="Fira Code"/>
              </a:rPr>
              <a:t>items</a:t>
            </a:r>
            <a:r>
              <a:rPr b="0" i="0" lang="en-US" sz="750" u="none" cap="none" strike="noStrike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: [{ nombre, completado, comentario }]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 txBox="1"/>
          <p:nvPr/>
        </p:nvSpPr>
        <p:spPr>
          <a:xfrm>
            <a:off x="9048750" y="4062412"/>
            <a:ext cx="259032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alertas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9048750" y="4281487"/>
            <a:ext cx="2466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 txBox="1"/>
          <p:nvPr/>
        </p:nvSpPr>
        <p:spPr>
          <a:xfrm>
            <a:off x="9048750" y="4348162"/>
            <a:ext cx="24669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{ id, tipo, prioridad, estado, titulo, desc, responsable, fecha_res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5" name="Google Shape;32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143827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67100" y="1438275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57925" y="143827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48750" y="1438275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6275" y="4090987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67100" y="4090987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57925" y="4090987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48750" y="4090987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9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2B5C"/>
                </a:solidFill>
                <a:latin typeface="Montserrat"/>
                <a:ea typeface="Montserrat"/>
                <a:cs typeface="Montserrat"/>
                <a:sym typeface="Montserrat"/>
              </a:rPr>
              <a:t>Esquema de Colecciones (Firestore)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2355" y="2273446"/>
            <a:ext cx="1167288" cy="3438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02390" y="3485978"/>
            <a:ext cx="1158239" cy="423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89128" y="3485978"/>
            <a:ext cx="1085850" cy="423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3476" y="3485978"/>
            <a:ext cx="1085849" cy="423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8212" y="4338257"/>
            <a:ext cx="1085850" cy="3076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62587" y="4320160"/>
            <a:ext cx="1266825" cy="3438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67937" y="4280430"/>
            <a:ext cx="1085850" cy="423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91125" y="5065833"/>
            <a:ext cx="1809750" cy="42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0"/>
          <p:cNvSpPr/>
          <p:nvPr/>
        </p:nvSpPr>
        <p:spPr>
          <a:xfrm>
            <a:off x="5571172" y="2798273"/>
            <a:ext cx="1049654" cy="1266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 txBox="1"/>
          <p:nvPr/>
        </p:nvSpPr>
        <p:spPr>
          <a:xfrm>
            <a:off x="5618797" y="2798273"/>
            <a:ext cx="954404" cy="126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Realiza / Responsable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50" name="Google Shape;350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639038" y="2372982"/>
            <a:ext cx="126682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0"/>
          <p:cNvSpPr txBox="1"/>
          <p:nvPr/>
        </p:nvSpPr>
        <p:spPr>
          <a:xfrm>
            <a:off x="2206451" y="3558368"/>
            <a:ext cx="950118" cy="162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Alerta 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2229073" y="3739343"/>
            <a:ext cx="904875" cy="9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Asignada a responsable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0"/>
          <p:cNvSpPr txBox="1"/>
          <p:nvPr/>
        </p:nvSpPr>
        <p:spPr>
          <a:xfrm>
            <a:off x="5694998" y="3558368"/>
            <a:ext cx="874109" cy="162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Checklist 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0"/>
          <p:cNvSpPr txBox="1"/>
          <p:nvPr/>
        </p:nvSpPr>
        <p:spPr>
          <a:xfrm>
            <a:off x="5715810" y="3739343"/>
            <a:ext cx="832485" cy="9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Incluye N Items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0"/>
          <p:cNvSpPr txBox="1"/>
          <p:nvPr/>
        </p:nvSpPr>
        <p:spPr>
          <a:xfrm>
            <a:off x="9109346" y="3558368"/>
            <a:ext cx="874108" cy="162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Producción 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9130158" y="3739343"/>
            <a:ext cx="832484" cy="9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Genera N Mermas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1044082" y="4410647"/>
            <a:ext cx="874109" cy="162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Proveedor 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0"/>
          <p:cNvSpPr txBox="1"/>
          <p:nvPr/>
        </p:nvSpPr>
        <p:spPr>
          <a:xfrm>
            <a:off x="2069306" y="4351831"/>
            <a:ext cx="3348037" cy="117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Pertenece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59" name="Google Shape;359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589269" y="4419696"/>
            <a:ext cx="126682" cy="144779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0"/>
          <p:cNvSpPr txBox="1"/>
          <p:nvPr/>
        </p:nvSpPr>
        <p:spPr>
          <a:xfrm>
            <a:off x="6774656" y="4351831"/>
            <a:ext cx="3348037" cy="117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1" i="0" lang="en-US" sz="6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Aparece 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10273808" y="4352820"/>
            <a:ext cx="874108" cy="162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Inventario 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10294620" y="4533795"/>
            <a:ext cx="832484" cy="9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Lotes FIFO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0"/>
          <p:cNvSpPr txBox="1"/>
          <p:nvPr/>
        </p:nvSpPr>
        <p:spPr>
          <a:xfrm>
            <a:off x="5278897" y="5138223"/>
            <a:ext cx="1634204" cy="162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Receta 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0"/>
          <p:cNvSpPr txBox="1"/>
          <p:nvPr/>
        </p:nvSpPr>
        <p:spPr>
          <a:xfrm>
            <a:off x="5317807" y="5319198"/>
            <a:ext cx="1556385" cy="9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Ingredientes enlazados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2B5C"/>
                </a:solidFill>
                <a:latin typeface="Montserrat"/>
                <a:ea typeface="Montserrat"/>
                <a:cs typeface="Montserrat"/>
                <a:sym typeface="Montserrat"/>
              </a:rPr>
              <a:t>Modelo Entidad-Relación Conceptual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1" name="Google Shape;3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1"/>
          <p:cNvSpPr txBox="1"/>
          <p:nvPr/>
        </p:nvSpPr>
        <p:spPr>
          <a:xfrm>
            <a:off x="571500" y="1285875"/>
            <a:ext cx="55506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Desarrollo 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1"/>
          <p:cNvSpPr txBox="1"/>
          <p:nvPr/>
        </p:nvSpPr>
        <p:spPr>
          <a:xfrm>
            <a:off x="6334125" y="1285875"/>
            <a:ext cx="55506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Librerías &amp; Herramientas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1"/>
          <p:cNvSpPr txBox="1"/>
          <p:nvPr/>
        </p:nvSpPr>
        <p:spPr>
          <a:xfrm>
            <a:off x="1143000" y="1666875"/>
            <a:ext cx="47148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Firebase: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Plataforma integral (Auth, Hosting, Firestore).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1"/>
          <p:cNvSpPr txBox="1"/>
          <p:nvPr/>
        </p:nvSpPr>
        <p:spPr>
          <a:xfrm>
            <a:off x="1143000" y="2484090"/>
            <a:ext cx="47148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React: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Biblioteca para interfaces de usuario.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1"/>
          <p:cNvSpPr txBox="1"/>
          <p:nvPr/>
        </p:nvSpPr>
        <p:spPr>
          <a:xfrm>
            <a:off x="1143000" y="3301305"/>
            <a:ext cx="47148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Firestore: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Base de datos NoSQL en la nube.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1"/>
          <p:cNvSpPr txBox="1"/>
          <p:nvPr/>
        </p:nvSpPr>
        <p:spPr>
          <a:xfrm>
            <a:off x="1143000" y="4118520"/>
            <a:ext cx="47148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Node.js: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Entorno de ejecución para herramientas de build.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1"/>
          <p:cNvSpPr txBox="1"/>
          <p:nvPr/>
        </p:nvSpPr>
        <p:spPr>
          <a:xfrm>
            <a:off x="6905625" y="1666875"/>
            <a:ext cx="47148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Firebase SDK: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Conexión y manejo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1"/>
          <p:cNvSpPr txBox="1"/>
          <p:nvPr/>
        </p:nvSpPr>
        <p:spPr>
          <a:xfrm>
            <a:off x="6905625" y="2484090"/>
            <a:ext cx="47148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Chart.js: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Visualización de datos y dashboards.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6905625" y="3301305"/>
            <a:ext cx="47148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PDFKit / ExcelJS: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Motor de reportes.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1"/>
          <p:cNvSpPr txBox="1"/>
          <p:nvPr/>
        </p:nvSpPr>
        <p:spPr>
          <a:xfrm>
            <a:off x="6905625" y="4118520"/>
            <a:ext cx="47148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2B5C"/>
                </a:solidFill>
                <a:latin typeface="Open Sans"/>
                <a:ea typeface="Open Sans"/>
                <a:cs typeface="Open Sans"/>
                <a:sym typeface="Open Sans"/>
              </a:rPr>
              <a:t>Trello &amp; Git: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Gestión y versionamiento.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2" name="Google Shape;38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1700212"/>
            <a:ext cx="1809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251742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333464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415185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2250" y="17002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2250" y="251742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72250" y="333464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72250" y="4151858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1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2B5C"/>
                </a:solidFill>
                <a:latin typeface="Montserrat"/>
                <a:ea typeface="Montserrat"/>
                <a:cs typeface="Montserrat"/>
                <a:sym typeface="Montserrat"/>
              </a:rPr>
              <a:t>Stack Tecnológico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6" name="Google Shape;39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000"/>
            <a:ext cx="12192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2"/>
          <p:cNvSpPr txBox="1"/>
          <p:nvPr/>
        </p:nvSpPr>
        <p:spPr>
          <a:xfrm>
            <a:off x="0" y="2117377"/>
            <a:ext cx="12192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Demostración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2"/>
          <p:cNvSpPr txBox="1"/>
          <p:nvPr/>
        </p:nvSpPr>
        <p:spPr>
          <a:xfrm>
            <a:off x="0" y="3003202"/>
            <a:ext cx="12192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Navegación en tiempo real por la plataforma APT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00" name="Google Shape;40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0" y="3978473"/>
            <a:ext cx="952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5" name="Google Shape;40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5875"/>
            <a:ext cx="5286375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169866"/>
            <a:ext cx="5286375" cy="58668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3"/>
          <p:cNvSpPr txBox="1"/>
          <p:nvPr/>
        </p:nvSpPr>
        <p:spPr>
          <a:xfrm>
            <a:off x="439340" y="1285875"/>
            <a:ext cx="555069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Porcentaje de Cumplimiento por Módulo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3"/>
          <p:cNvSpPr txBox="1"/>
          <p:nvPr/>
        </p:nvSpPr>
        <p:spPr>
          <a:xfrm>
            <a:off x="6334125" y="1285875"/>
            <a:ext cx="55506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Detalle de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0" name="Google Shape;410;p13"/>
          <p:cNvGraphicFramePr/>
          <p:nvPr/>
        </p:nvGraphicFramePr>
        <p:xfrm>
          <a:off x="6334125" y="16097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{8F740774-0B11-42D5-86A7-E2D33685C709}</a:tableStyleId>
              </a:tblPr>
              <a:tblGrid>
                <a:gridCol w="2955425"/>
                <a:gridCol w="2330950"/>
              </a:tblGrid>
              <a:tr h="3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Requisito (Meta)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Estado Final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5C"/>
                    </a:solidFill>
                  </a:tcPr>
                </a:tc>
              </a:tr>
              <a:tr h="3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HU01-04:</a:t>
                      </a: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Core &amp; Auth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59E0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Adaptado a Firebase</a:t>
                      </a:r>
                      <a:endParaRPr sz="1400" u="none" cap="none" strike="noStrike"/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HU05-06:</a:t>
                      </a: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Inventario FIFO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2C5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Cumplido (NoSQL)</a:t>
                      </a:r>
                      <a:endParaRPr sz="1400" u="none" cap="none" strike="noStrike"/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HU07-09:</a:t>
                      </a: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Calidad &amp; Checklists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2C5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Cumplido</a:t>
                      </a:r>
                      <a:endParaRPr sz="1400" u="none" cap="none" strike="noStrike"/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HU11-15:</a:t>
                      </a: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Reportes &amp; Cierre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2C5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Cumplido</a:t>
                      </a:r>
                      <a:endParaRPr sz="1400" u="none" cap="none" strike="noStrike"/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Extra:</a:t>
                      </a: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Modo Offline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F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Descartado</a:t>
                      </a:r>
                      <a:endParaRPr sz="1400" u="none" cap="none" strike="noStrike"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1" name="Google Shape;411;p13"/>
          <p:cNvSpPr txBox="1"/>
          <p:nvPr/>
        </p:nvSpPr>
        <p:spPr>
          <a:xfrm>
            <a:off x="6429375" y="4265116"/>
            <a:ext cx="50958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Conclusión:</a:t>
            </a: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Se logró el 100% de la funcionalidad crítica operativa. El modo Offline se descartó estratégicamente para asegurar la estabilidad y entrega a tiempo.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6334125" y="2382142"/>
            <a:ext cx="29554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9289553" y="2382142"/>
            <a:ext cx="23309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6334125" y="2780258"/>
            <a:ext cx="29554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9289553" y="2780258"/>
            <a:ext cx="23309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6334125" y="3178373"/>
            <a:ext cx="29554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9289553" y="3178373"/>
            <a:ext cx="23309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6334125" y="3576488"/>
            <a:ext cx="29554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9289553" y="3576488"/>
            <a:ext cx="23309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0" name="Google Shape;42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46703" y="3705076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46703" y="211261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46703" y="290884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46703" y="251073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46703" y="330696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46703" y="211261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46703" y="251073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46703" y="290884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46703" y="330696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46703" y="3705076"/>
            <a:ext cx="12382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3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2B5C"/>
                </a:solidFill>
                <a:latin typeface="Montserrat"/>
                <a:ea typeface="Montserrat"/>
                <a:cs typeface="Montserrat"/>
                <a:sym typeface="Montserrat"/>
              </a:rPr>
              <a:t>Comparativa: Esperado vs. Obtenido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6" name="Google Shape;43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7" name="Google Shape;43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5594"/>
            <a:ext cx="3492549" cy="3011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8" name="Google Shape;43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75594"/>
            <a:ext cx="3492549" cy="3011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75594"/>
            <a:ext cx="3492549" cy="301168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4"/>
          <p:cNvSpPr txBox="1"/>
          <p:nvPr/>
        </p:nvSpPr>
        <p:spPr>
          <a:xfrm>
            <a:off x="794225" y="3423344"/>
            <a:ext cx="30470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Migración 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4"/>
          <p:cNvSpPr txBox="1"/>
          <p:nvPr/>
        </p:nvSpPr>
        <p:spPr>
          <a:xfrm>
            <a:off x="866775" y="3823394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La migración a NoSQL fue obligatoria por tiempos de entrega, requiriendo re-diseñar el modelo de datos relacional original.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4"/>
          <p:cNvSpPr txBox="1"/>
          <p:nvPr/>
        </p:nvSpPr>
        <p:spPr>
          <a:xfrm>
            <a:off x="4572524" y="3423344"/>
            <a:ext cx="30470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Alcance (Offline)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4"/>
          <p:cNvSpPr txBox="1"/>
          <p:nvPr/>
        </p:nvSpPr>
        <p:spPr>
          <a:xfrm>
            <a:off x="4645074" y="3823394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El modo offline se descartó estratégicamente para asegurar la estabilidad del sistema y cumplir con la fecha de entrega final.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4"/>
          <p:cNvSpPr txBox="1"/>
          <p:nvPr/>
        </p:nvSpPr>
        <p:spPr>
          <a:xfrm>
            <a:off x="8350824" y="3423344"/>
            <a:ext cx="30470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B5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Lógica FIFO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4"/>
          <p:cNvSpPr txBox="1"/>
          <p:nvPr/>
        </p:nvSpPr>
        <p:spPr>
          <a:xfrm>
            <a:off x="8423374" y="3823394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Implementar "First In, First Out" en una base NoSQL presentó desafíos de consistencia que requirieron transacciones complejas.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46" name="Google Shape;44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1012" y="278516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7" name="Google Shape;44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278516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8" name="Google Shape;44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7612" y="278516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4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2B5C"/>
                </a:solidFill>
                <a:latin typeface="Montserrat"/>
                <a:ea typeface="Montserrat"/>
                <a:cs typeface="Montserrat"/>
                <a:sym typeface="Montserrat"/>
              </a:rPr>
              <a:t>Obstáculos y Desafíos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5" name="Google Shape;4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6" name="Google Shape;45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000"/>
            <a:ext cx="12192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5"/>
          <p:cNvSpPr txBox="1"/>
          <p:nvPr/>
        </p:nvSpPr>
        <p:spPr>
          <a:xfrm>
            <a:off x="0" y="2688877"/>
            <a:ext cx="12192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Preguntas de la Comisión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 txBox="1"/>
          <p:nvPr/>
        </p:nvSpPr>
        <p:spPr>
          <a:xfrm>
            <a:off x="0" y="3574702"/>
            <a:ext cx="12192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